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UK Road Traffic &amp; Carbon Intensity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B82F6"/>
                </a:solidFill>
              </a:defRPr>
            </a:pPr>
            <a:r>
              <a:t>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End-to-End Azure Data Engineering with Batch &amp; Streaming Pipelines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5029200"/>
            <a:ext cx="4572000" cy="457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Presented by: Subirna Muthurasa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1.  Project Overview &amp; Business Problem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  Architecture — Batch Pipeline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3.  Architecture — Streaming Pipeline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4.  Data Sources &amp; Infrastructure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5.  Medallion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6.   Gold Tables &amp; Data Model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7.   ADF Pipelines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8.   Batch Demo &amp; Dashboard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9.   Streaming Live Demo &amp; Dashboard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10.  Challenges, Insights &amp;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Total Time: ~20 minutes  |  Includes 2 live demos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BUSINESS PROBLEM &amp;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UK has 46,000+ traffic count points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600,000+ records spanning 25 years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No unified platform for traffic &amp;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    environmental analysis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COVID-19 impact on UK roads unknown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Need real-time carbon intensity data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Decision-makers lack actionable insights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Batch: 602,250 historical traffic records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    across all 11 UK regions (2000-2025)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Streaming: Real-time carbon intensity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    data every 30 seconds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Medallion Architecture (Bronze→Silver→Gold)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Azure Synapse SQL serving layer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2 Interactive Power BI dashboards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3 ADF pipelines for orchestration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BATCH PIPELINE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1554480" cy="10058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UK DfT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Traffic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024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468880" y="1645920"/>
            <a:ext cx="1554480" cy="10058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ADF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Copy Data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663440" y="1645920"/>
            <a:ext cx="1554480" cy="10058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ADLS Gen2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Raw 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30936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0" y="1280160"/>
            <a:ext cx="2926080" cy="4389120"/>
          </a:xfrm>
          <a:prstGeom prst="roundRect">
            <a:avLst/>
          </a:prstGeom>
          <a:solidFill>
            <a:srgbClr val="15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</a:defRPr>
            </a:pPr>
            <a:r>
              <a:t>Azure Databricks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828800"/>
            <a:ext cx="2103120" cy="822960"/>
          </a:xfrm>
          <a:prstGeom prst="roundRect">
            <a:avLst/>
          </a:prstGeom>
          <a:solidFill>
            <a:srgbClr val="7C3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Bronze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602,250 raw rows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955280" y="274320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223760" y="3200400"/>
            <a:ext cx="2103120" cy="822960"/>
          </a:xfrm>
          <a:prstGeom prst="round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Silver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Cleansed &amp; typed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955280" y="411480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223760" y="4572000"/>
            <a:ext cx="2103120" cy="822960"/>
          </a:xfrm>
          <a:prstGeom prst="roundRect">
            <a:avLst/>
          </a:prstGeom>
          <a:solidFill>
            <a:srgbClr val="713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Gold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 business tables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75520" y="320040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0" y="2743200"/>
            <a:ext cx="1554480" cy="10058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Azure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Synapse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 Views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972800" y="384048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24160" y="4389120"/>
            <a:ext cx="155448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Power BI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602,250 records  •  11 UK Regions  •  25 Years (2000-2025)  •  8 Gold Tables  •  13 Vehicle Types  •  3K Count Points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STREAMING PIPELINE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1554480" cy="100584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UK Carbon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Intensity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024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468880" y="1645920"/>
            <a:ext cx="155448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Python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Producer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(every 30s)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663440" y="1645920"/>
            <a:ext cx="1554480" cy="10058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Azure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Event Hub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309360" y="201168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0" y="1280160"/>
            <a:ext cx="2926080" cy="4389120"/>
          </a:xfrm>
          <a:prstGeom prst="roundRect">
            <a:avLst/>
          </a:prstGeom>
          <a:solidFill>
            <a:srgbClr val="15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</a:defRPr>
            </a:pPr>
            <a:r>
              <a:t>Azure Databricks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828800"/>
            <a:ext cx="2103120" cy="822960"/>
          </a:xfrm>
          <a:prstGeom prst="roundRect">
            <a:avLst/>
          </a:prstGeom>
          <a:solidFill>
            <a:srgbClr val="7C3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Bronze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Raw events (append)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955280" y="274320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223760" y="3200400"/>
            <a:ext cx="2103120" cy="822960"/>
          </a:xfrm>
          <a:prstGeom prst="round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Silver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Parsed JSON (10 min)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955280" y="411480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223760" y="4572000"/>
            <a:ext cx="2103120" cy="822960"/>
          </a:xfrm>
          <a:prstGeom prst="roundRect">
            <a:avLst/>
          </a:prstGeom>
          <a:solidFill>
            <a:srgbClr val="713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Gold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 aggregated tables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75520" y="320040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0" y="2743200"/>
            <a:ext cx="1554480" cy="10058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Azure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Synapse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 Views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972800" y="3840480"/>
            <a:ext cx="274320" cy="36576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24160" y="4389120"/>
            <a:ext cx="155448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Power BI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Real-time every 30 seconds  •  17 UK Regions  •  9 Fuel Types  •  5 Gold Tables  •  ~190 events/cycle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DATA SOURCES &amp;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Batch — UK DfT Traffic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602,250 traffic count records (2000-2025)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11 UK regions, 214 local authorities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13 vehicle types (cars, HGVs, cycles...)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API: roadtraffic.dft.gov.uk/api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</a:defRPr>
            </a:pPr>
            <a:r>
              <a:t>Streaming — Carbon Intensity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National &amp; regional intensity (gCO2/kWh)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9 fuel types (wind, solar, gas, nuclear...)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17 UK energy regions, every 30 seconds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 API: api.carbonintensity.org.uk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ADLS Gen2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subiradls2026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Data Factory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SubiADF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6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</a:defRPr>
            </a:pPr>
            <a:r>
              <a:t>Databricks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adb-training-bd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Synapse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syn-bd-training-uk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Event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eh-uk-traffic-subirna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32720" y="4114800"/>
            <a:ext cx="16459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6988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Power 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69880" y="48463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Desktop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MEDALLION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4572000"/>
          </a:xfrm>
          <a:prstGeom prst="roundRect">
            <a:avLst/>
          </a:prstGeom>
          <a:solidFill>
            <a:srgbClr val="7C3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</a:defRPr>
            </a:pPr>
            <a:r>
              <a:t>BRONZE (Raw)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Raw data from API as-is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All columns as strings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602,250 traffic records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Stored as Parquet in ADLS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Fetched all 11 regions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using filter[region_id]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Append mode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23360" y="3474720"/>
            <a:ext cx="45720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4572000"/>
          </a:xfrm>
          <a:prstGeom prst="round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4A3B8"/>
                </a:solidFill>
              </a:defRPr>
            </a:pPr>
            <a:r>
              <a:t>SILVER (Cleansed)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Type-cast: String → Int/Double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UK coordinates validated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(lat 49-61, lon -8 to 2)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Road names: UPPER CASE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Derived: total_vehicles,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hgv_percentage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Overwrite mode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72400" y="3474720"/>
            <a:ext cx="45720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200400" cy="4572000"/>
          </a:xfrm>
          <a:prstGeom prst="roundRect">
            <a:avLst/>
          </a:prstGeom>
          <a:solidFill>
            <a:srgbClr val="713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</a:defRPr>
            </a:pPr>
            <a:r>
              <a:t>GOLD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8 aggregated tables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Star schema design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CO2 emission estimates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COVID recovery analysis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Vehicle mix &amp; green index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NO partitionBy (keeps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year column intact)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GOLD TABLES &amp; DATA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Batch Gold (8 Tables)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fact_traffic_summary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fact_co2_emissions   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fact_vehicle_mix     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fact_road_analysis       1,704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fact_covid_impact           77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fact_busiest_roads          95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dim_date                 9,497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dim_location               123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Star Schema: dim_date (year) → all fact tables</a:t>
            </a:r>
            <a:br/>
            <a:r>
              <a:t>Relationships: One-to-Many (1:M)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</a:defRPr>
            </a:pPr>
            <a:r>
              <a:t>Streaming Gold (5 Tables)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gold_national_intensity    CO2 timeline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gold_generation_mix        9 fuel types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gold_regional_intensity    17 regions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gold_regional_generation   Regional mix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gold_renewable_summary     Renewable vs Fossil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Standalone tables (no relationships)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Synapse: 8 batch + 4 streaming = 12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ADF PIPELINE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Pipeline 1 — Batch 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pl_ingest_traffic_data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Count Points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Traffic Counts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Regions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Local Authorities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4 ADF Copy Activities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UK Gov API → ADLS 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Pipeline 2 — Batch Transform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20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pl_batch_orchestration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Bronze_Ingestion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   ↓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Silver_Transform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   ↓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Gold_Transform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3 Databricks Notebooks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</a:defRPr>
            </a:pPr>
            <a:r>
              <a:t>Pipeline 3 —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1920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pl_streaming_carbon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Produce_Events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   ↓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Stream_Bronze_Silver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   ↓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Stream_Gold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API → Event Hub → ADLS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DEMO — BATCH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548640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Azure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Resource Group with all Azure services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423160"/>
            <a:ext cx="548640" cy="5486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74519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</a:defRPr>
            </a:pPr>
            <a:r>
              <a:t>ADF 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Copy pipeline + Databricks orchestration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3200400"/>
            <a:ext cx="548640" cy="5486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19" y="3291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246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7316"/>
                </a:solidFill>
              </a:defRPr>
            </a:pPr>
            <a:r>
              <a:t>ADLS Gen2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46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Bronze, Silver, Gold containers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977639"/>
            <a:ext cx="54864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74519" y="40690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0233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</a:defRPr>
            </a:pPr>
            <a:r>
              <a:t>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02335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Notebooks — Bronze, Silver, Gold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4754880"/>
            <a:ext cx="548640" cy="5486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74519" y="4846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800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</a:defRPr>
            </a:pPr>
            <a:r>
              <a:t>Synapse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SQL Views on Gold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5532120"/>
            <a:ext cx="54864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874519" y="5623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Power 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577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Dashboard — filter by Year &amp; Region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DEMO — STREAMING PIPELINE (LIVE)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548640" cy="54864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</a:defRPr>
            </a:pPr>
            <a:r>
              <a:t>ADF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Debug — triggers all 3 notebooks automatically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514600"/>
            <a:ext cx="54864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74519" y="2606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Producer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Fetches Carbon Intensity → sends to Event 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3383280"/>
            <a:ext cx="548640" cy="5486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19" y="3474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429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</a:defRPr>
            </a:pPr>
            <a:r>
              <a:t>Event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Message broker — ~190 events per 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4251959"/>
            <a:ext cx="54864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74519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2976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</a:defRPr>
            </a:pPr>
            <a:r>
              <a:t>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Bronze → Silver → Gold (5 tables)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5120640"/>
            <a:ext cx="54864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74519" y="5212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166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Refresh — live data updates!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API returned only 4 of 11 regions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Fetched region-by-region using filter[region_id]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ADF Copy saved wrapper, not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488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Moved ingestion to Databricks for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346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2926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partitionBy removed year column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8346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2926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Removed partitionBy — year stays as column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204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611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COVID baseline returned nulls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5204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3611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Changed window function to JOIN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2062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Unity Catalog blocked mount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2062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Used spark.conf.set with account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920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983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Synapse couldn't access ADLS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8920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4983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Used SAS token credential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5029200" cy="54864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669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❌  Power BI cyclic reference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5577840"/>
            <a:ext cx="5029200" cy="54864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5669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✅  Removed auto-detected relationships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Add Accident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STATS19 road casualty statistics for safety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Delta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Replace Parquet with Delta for ACID transactions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Real-time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Power BI streaming dataset for auto-refresh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01752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CI/CD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Azure DevOps for automated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Machine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Predict traffic congestion and accident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66344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Data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Great Expectations for automated validation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End-to-end Azure Data Engineering platform with Batch &amp; Streaming pipelines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602,250 historical traffic records across 11 UK regions (2000-2025)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Real-time carbon intensity data from 17 UK regions every 30 seconds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Medallion Architecture: Bronze → Silver → Gold with 13 Gold tables total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3 ADF Pipelines, 12 Synapse SQL Views, 2 Professional Power BI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389120"/>
            <a:ext cx="64008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Key Achievement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Built a complete data platform handling both historical</a:t>
            </a:r>
            <a:br/>
            <a:r>
              <a:t>batch processing and real-time streaming with professional</a:t>
            </a:r>
            <a:br/>
            <a:r>
              <a:t>Power BI dashboards delivering actionable business insights.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B82F6"/>
                </a:solidFill>
              </a:defRPr>
            </a:pPr>
            <a:r>
              <a:t>Questions &amp;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657600"/>
            <a:ext cx="4572000" cy="457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GitHub: github.com/Subirna/Azure-Data-Engineering-Project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Subirna Muthurasa  |  June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03520"/>
            <a:ext cx="10058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539496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Common Questions Prepared: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7607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Why Views not External Tables?  •  Why Databricks not ADF for ingestion?  •  How often does streaming run?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What if cluster is down?  •  How do you handle data quality?  •  Why 2 separate dashboards?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1235</Words>
  <Application>Microsoft Office PowerPoint</Application>
  <PresentationFormat>Widescreen</PresentationFormat>
  <Paragraphs>251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anasubi@outlook.com</cp:lastModifiedBy>
  <cp:revision>2</cp:revision>
  <dcterms:created xsi:type="dcterms:W3CDTF">2013-01-27T09:14:16Z</dcterms:created>
  <dcterms:modified xsi:type="dcterms:W3CDTF">2026-06-26T12:49:22Z</dcterms:modified>
  <cp:category/>
</cp:coreProperties>
</file>