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UK Road Traffic &amp; Carbon Intensity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B82F6"/>
                </a:solidFill>
              </a:defRPr>
            </a:pPr>
            <a:r>
              <a:t>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End-to-End Azure Data Engineering with Batch &amp; Streaming Pipelines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5029200"/>
            <a:ext cx="4572000" cy="457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Presented by: Subirna Muthurasa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1.  Project Overview &amp; Business Problem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2.  Architecture — Batch Pipeline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3.  Architecture — Streaming Pipeline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4.  Data Sources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5.  Azure Infrastructure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6459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6.   Medallion Architecture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7.   ADF Pipelines &amp; Orchestration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8.   Batch Dashboard — Live Demo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9.   Streaming Dashboard — Live Demo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10.  Challenges, Solutions &amp;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BUSINESS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B82F6"/>
                </a:solidFill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UK has 46,000+ traffic count points across 11 regions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600,000+ historical records spanning 25 years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No unified platform for traffic &amp; environmental analysis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Decision-makers need real-time carbon intensity data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COVID-19 impact on UK road traffic unknown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Batch pipeline: 602,250 historical traffic records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Streaming pipeline: Real-time carbon intensity every 30s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Medallion Architecture (Bronze → Silver → Gold)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Azure Synapse SQL serving layer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•  Interactive Power BI dashboards with business insights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BATCH PIPELINE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645920" cy="10972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UK DfT</a:t>
            </a:r>
            <a:br/>
            <a:r>
              <a:t>Traffic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286000"/>
            <a:ext cx="1645920" cy="10972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Azure Data</a:t>
            </a:r>
            <a:br/>
            <a:r>
              <a:t>Factory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286000"/>
            <a:ext cx="1645920" cy="10972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ADLS Gen2</a:t>
            </a:r>
            <a:br/>
            <a:r>
              <a:t>Raw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371600"/>
            <a:ext cx="1645920" cy="10972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Databricks</a:t>
            </a:r>
            <a:br/>
            <a:r>
              <a:t>Bronze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200400"/>
            <a:ext cx="1645920" cy="10972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Databricks</a:t>
            </a:r>
            <a:br/>
            <a:r>
              <a:t>Silver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5029200"/>
            <a:ext cx="1645920" cy="10972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Databricks</a:t>
            </a:r>
            <a:br/>
            <a:r>
              <a:t>Gold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3200400"/>
            <a:ext cx="1645920" cy="10972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Azure</a:t>
            </a:r>
            <a:br/>
            <a:r>
              <a:t>Synapse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0" y="3200400"/>
            <a:ext cx="1645920" cy="10972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Power BI</a:t>
            </a:r>
            <a:br/>
            <a: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602,250 records  •  11 UK Regions  •  25 Years (2000-2025)  •  8 Gold Tables  •  13 Vehicle Types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STREAMING PIPELINE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645920" cy="10972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UK Carbon</a:t>
            </a:r>
            <a:br/>
            <a:r>
              <a:t>Intensity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286000"/>
            <a:ext cx="1645920" cy="10972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Python</a:t>
            </a:r>
            <a:br/>
            <a:r>
              <a:t>Producer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286000"/>
            <a:ext cx="1645920" cy="10972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Azure</a:t>
            </a:r>
            <a:br/>
            <a:r>
              <a:t>Event 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371600"/>
            <a:ext cx="1645920" cy="10972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Databricks</a:t>
            </a:r>
            <a:br/>
            <a:r>
              <a:t>Bronze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200400"/>
            <a:ext cx="1645920" cy="10972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Databricks</a:t>
            </a:r>
            <a:br/>
            <a:r>
              <a:t>Silver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5029200"/>
            <a:ext cx="1645920" cy="10972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Databricks</a:t>
            </a:r>
            <a:br/>
            <a:r>
              <a:t>Gold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3200400"/>
            <a:ext cx="1645920" cy="10972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Azure</a:t>
            </a:r>
            <a:br/>
            <a:r>
              <a:t>Synapse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0" y="3200400"/>
            <a:ext cx="1645920" cy="10972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Power BI</a:t>
            </a:r>
            <a:br/>
            <a: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</a:defRPr>
            </a:pPr>
            <a:r>
              <a:t>Real-time every 30 seconds  •  17 UK Regions  •  9 Fuel Types  •  5 Gold Tables  •  ~190 events/cycle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DATA 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Batch — UK DfT Road Traffic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Traffic Counts (AADF): 602,250 records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Regions: 11 UK geographic regions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Local Authorities: 214 council areas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Count Points: 46,754 physical locations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Vehicle Types: Cars, HGVs, LGVs, Buses, Cycles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Years: 2000 to 2025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API: roadtraffic.dft.gov.uk/api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Format: Paginated JSON (250 per page)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</a:defRPr>
            </a:pPr>
            <a:r>
              <a:t>Streaming — UK Carbon Intensity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National Intensity: CO2 grams per kWh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Generation Mix: 9 fuel types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    (wind, solar, gas, nuclear, coal, hydro,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     biomass, imports, other)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Regional Intensity: 17 UK regions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Update Frequency: Every 30 minutes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API: api.carbonintensity.org.uk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Format: JSON (free, no auth required)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AZURE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ADLS Gen2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subiradls2026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Data Lake</a:t>
            </a:r>
            <a:br/>
            <a:r>
              <a:t>Bronze / Silver / Gold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71600"/>
            <a:ext cx="3200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</a:defRPr>
            </a:pPr>
            <a:r>
              <a:t>Data Factory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SubiADF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Pipeline</a:t>
            </a:r>
            <a:br/>
            <a:r>
              <a:t>Orchestration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371600"/>
            <a:ext cx="3200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</a:defRPr>
            </a:pPr>
            <a:r>
              <a:t>Databricks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adb-training-bd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4688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Spark</a:t>
            </a:r>
            <a:br/>
            <a:r>
              <a:t>Transformations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00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</a:defRPr>
            </a:pPr>
            <a:r>
              <a:t>Synapse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syn-bd-training-uk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SQL Serving</a:t>
            </a:r>
            <a:br/>
            <a:r>
              <a:t>Layer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3931920"/>
            <a:ext cx="3200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Event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eh-uk-traffic-subirna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50292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Streaming</a:t>
            </a:r>
            <a:br/>
            <a:r>
              <a:t>Message Broker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3931920"/>
            <a:ext cx="3200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Power BI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Desktop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0292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Dashboard</a:t>
            </a:r>
            <a:br/>
            <a:r>
              <a:t>Visualization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MEDALLION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4572000"/>
          </a:xfrm>
          <a:prstGeom prst="roundRect">
            <a:avLst/>
          </a:prstGeom>
          <a:solidFill>
            <a:srgbClr val="7C3A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</a:defRPr>
            </a:pPr>
            <a:r>
              <a:t>BRONZE (Raw)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Raw data from API as-is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All columns as strings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602,250 traffic records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Stored as Parquet in ADLS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Append mode (no overwrites)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All 11 regions fetched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using filter[region_id]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371600"/>
            <a:ext cx="3200400" cy="4572000"/>
          </a:xfrm>
          <a:prstGeom prst="round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4A3B8"/>
                </a:solidFill>
              </a:defRPr>
            </a:pPr>
            <a:r>
              <a:t>SILVER (Cleansed)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1031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Type-cast: String → Int/Double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UK coordinates validated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(lat 49-61, lon -8 to 2)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Road names: UPPER CASE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Derived: total_vehicles,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hgv_percentage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Null handling &amp; filtering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Overwrite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371600"/>
            <a:ext cx="3200400" cy="4572000"/>
          </a:xfrm>
          <a:prstGeom prst="roundRect">
            <a:avLst/>
          </a:prstGeom>
          <a:solidFill>
            <a:srgbClr val="713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9E0B"/>
                </a:solidFill>
              </a:defRPr>
            </a:pPr>
            <a:r>
              <a:t>GOLD (Business)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1031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8 aggregated tables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Star schema design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Traffic summary by region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CO2 emission estimates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Vehicle mix &amp; green index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COVID recovery analysis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•  Written WITHOUT partitionBy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 to preserve year column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GOLD TABLES &amp; DATA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Batch Gold (8 Tables)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fact_traffic_summary      286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fact_co2_emissions         286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fact_vehicle_mix           286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fact_road_analysis       1,704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fact_covid_impact           77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fact_busiest_roads          95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dim_date                 9,497 rows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dim_location               123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Star Schema: dim_date (year) → all fact tables</a:t>
            </a:r>
            <a:br/>
            <a:r>
              <a:t>All relationships: One-to-Many (1:M)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</a:defRPr>
            </a:pPr>
            <a:r>
              <a:t>Streaming Gold (5 Tables)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gold_national_intensity    Real-time CO2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gold_generation_mix        9 fuel types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gold_regional_intensity    17 UK regions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gold_regional_generation   Regional energy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gold_renewable_summary     Renewable vs Fossil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Streaming tables are standalone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(no relationships needed)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50292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Synapse Views: 8 batch + 4 streaming = 12 total</a:t>
            </a:r>
            <a:br/>
            <a:r>
              <a:t>Using OPENROWSET on Parquet files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ADF PIPELINE ORCHESTRATION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Pipeline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pl_ingest_traffic_data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✅ Fetch Count Points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✅ Fetch Traffic Counts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✅ Fetch Regions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✅ Fetch Local Authorities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4 ADF Copy Activities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API → ADLS Raw (Parquet)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004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Pipeline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pl_batch_orchestration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46888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Bronze_Ingestion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Silver_Transform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Gold_Transform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3 Databricks Notebooks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Bronze → Silver → Gold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371600"/>
            <a:ext cx="32004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AA"/>
                </a:solidFill>
              </a:defRPr>
            </a:pPr>
            <a:r>
              <a:t>Pipeline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pl_streaming_carbon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46888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Produce_Events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Stream_Bronze_Silver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📓 Stream_Gold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3 Databricks Notebooks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API → Event Hub → ADLS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BATCH DASHBOARD — UK ROAD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</a:defRPr>
            </a:pPr>
            <a:r>
              <a:t>[INSERT SCREENSHOT OF BATCH DASHBOARD HERE]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058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</a:defRPr>
            </a:pPr>
            <a:r>
              <a:t>Dashboard Screenshot</a:t>
            </a:r>
            <a:br/>
            <a:br/>
            <a:r>
              <a:t>• 5 KPI Cards: Total Vehicles, CO2, Green Index, Count Points, COVID Recovery</a:t>
            </a:r>
            <a:br/>
            <a:r>
              <a:t>• Line Chart: Traffic Trend by Region (2000-2025)</a:t>
            </a:r>
            <a:br/>
            <a:r>
              <a:t>• Donut Chart: Vehicle Type Breakdown (Cars 75%, LGVs 14%, HGVs 10%)</a:t>
            </a:r>
            <a:br/>
            <a:r>
              <a:t>• Bar Chart: CO2 Emissions by Region (South East highest)</a:t>
            </a:r>
            <a:br/>
            <a:r>
              <a:t>• Table: Regional Traffic Ranking with YoY Change</a:t>
            </a:r>
            <a:br/>
            <a:r>
              <a:t>• Green Transport Index Trend</a:t>
            </a:r>
            <a:br/>
            <a:r>
              <a:t>• Year &amp; Region dropdown filters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STREAMING DASHBOARD — CARBON INTENSITY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4A3B8"/>
                </a:solidFill>
              </a:defRPr>
            </a:pPr>
            <a:r>
              <a:t>[INSERT SCREENSHOT OF STREAMING DASHBOARD HERE]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058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</a:defRPr>
            </a:pPr>
            <a:r>
              <a:t>Dashboard Screenshot</a:t>
            </a:r>
            <a:br/>
            <a:br/>
            <a:r>
              <a:t>• 3 KPI Cards: Carbon Intensity (gCO2/kWh), Level, Forecast Variance</a:t>
            </a:r>
            <a:br/>
            <a:r>
              <a:t>• Donut Chart: Energy Source Split (Renewable 42%, Fossil 32%, Nuclear 9%)</a:t>
            </a:r>
            <a:br/>
            <a:r>
              <a:t>• Donut Chart: UK Energy Generation Mix (Gas 39%, Wind 18%, Solar 14%)</a:t>
            </a:r>
            <a:br/>
            <a:r>
              <a:t>• Bar Chart: Carbon Intensity by Region (South Wales highest)</a:t>
            </a:r>
            <a:br/>
            <a:r>
              <a:t>• Stacked Bar: Fuel Breakdown by Category</a:t>
            </a:r>
            <a:br/>
            <a:r>
              <a:t>• Table: Regional Intensity Details with Level &amp; Category</a:t>
            </a:r>
            <a:br/>
            <a:r>
              <a:t>• Real-time data updated every 30 seconds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KEY BUSINESS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</a:defRPr>
            </a:pPr>
            <a:r>
              <a:t>Batch — Traffic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📊  33 billion vehicles counted (2000-2025)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🚗  Cars = 75% of all vehicles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📉  COVID: Traffic dropped 24% in 2020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📈  Recovery: 90.68% of 2019 levels by 2023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🏭  South East: Highest CO2 emissions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🚴  Green Transport Index rising since 2010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🚛  Scotland: 23.65% YoY growth in traffic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</a:defRPr>
            </a:pPr>
            <a:r>
              <a:t>Streaming — Energy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⚡  Current: 160 gCO2/kWh (moderate)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💨  Gas dominates at 39% of energy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🌊  Renewables: 32% (wind + solar + hydro)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☢️  Nuclear provides ~9% baseload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🏴  Scotland: Very low intensity (wind)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🏴  South Wales: Very high intensity (fossil)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✅  Variance: -18 (actual &lt; forecast = good!)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CHALLENGES &amp; SOLUTIONS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59436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❌  API returned only 4 of 11 regions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80160"/>
            <a:ext cx="5029200" cy="59436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✅  Fetched region-by-region using filter[region_id]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5029200" cy="59436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❌  ADF Copy saved API wrapper, not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5029200" cy="59436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✅  Moved ingestion to Databricks for full control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743200"/>
            <a:ext cx="5029200" cy="59436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❌  partitionBy removed year from Parquet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743200"/>
            <a:ext cx="5029200" cy="59436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834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✅  Removed partitionBy — year stays as column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5029200" cy="59436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❌  COVID baseline returned null values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474720"/>
            <a:ext cx="5029200" cy="59436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566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✅  Changed from window function to JOIN approach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06240"/>
            <a:ext cx="5029200" cy="59436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❌  Unity Catalog blocked mount/config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206240"/>
            <a:ext cx="5029200" cy="59436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✅  Used spark.conf.set with storage account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37760"/>
            <a:ext cx="5029200" cy="59436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29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❌  Synapse couldn't access ADLS storage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937760"/>
            <a:ext cx="5029200" cy="59436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✅  Used SAS token credential instead of IAM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669280"/>
            <a:ext cx="5029200" cy="59436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760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❌  Power BI cyclic reference errors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669280"/>
            <a:ext cx="5029200" cy="594360"/>
          </a:xfrm>
          <a:prstGeom prst="round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760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✅  Removed auto-detected relationships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Cloud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Microsoft Azure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37160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</a:defRPr>
            </a:pPr>
            <a:r>
              <a:t>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Azure Data Lake Gen2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37160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</a:defRPr>
            </a:pPr>
            <a:r>
              <a:t>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Azure Data Factory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1752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</a:defRPr>
            </a:pPr>
            <a:r>
              <a:t>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Azure Databricks (PySpark)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01752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Streaming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Azure Event Hub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301752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</a:defRPr>
            </a:pPr>
            <a:r>
              <a:t>SQL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Azure Synapse (Serverless)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66344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Visualization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Power BI Desktop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466344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4A3B8"/>
                </a:solidFill>
              </a:defRPr>
            </a:pPr>
            <a:r>
              <a:t>Version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Git / GitHub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4663440"/>
            <a:ext cx="32004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</a:defRPr>
            </a:pPr>
            <a:r>
              <a:t>Languages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Python, SQL, PySpark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B82F6"/>
                </a:solidFill>
              </a:defRPr>
            </a:pPr>
            <a:r>
              <a:t>Batch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1.  Azure Portal — Resource Group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2.  ADF — Show Copy Pipeline (Succeeded)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3.  ADF — Show Databricks Pipeline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4.  ADLS — Browse Bronze/Silver/Gold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5.  Databricks — Show notebook code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6.  Synapse — Run SELECT query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7.  Power BI — Interactive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4AA"/>
                </a:solidFill>
              </a:defRPr>
            </a:pPr>
            <a:r>
              <a:t>Streaming Demo (LIVE!)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1.  Start producer in CMD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2.  Show events flowing to Event Hub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3.  Debug streaming ADF pipeline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4.  Watch 3 activities succeed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5.  Refresh Power BI dashboard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6.  Numbers update with live data!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7.  Explain insights to panel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FUTURE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Add Accident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STATS19 road casualty statistics for safety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Delta Lake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Replace Parquet with Delta format for ACID transactions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Real-time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Power BI streaming dataset for auto-refresh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01752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CI/CD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Azure DevOps for automated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Machine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Predict traffic congestion and accident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663440"/>
            <a:ext cx="502920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</a:defRPr>
            </a:pPr>
            <a:r>
              <a:t>Data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Great Expectations framework for automated validation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PROJECT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End-to-end Azure Data Engineering platform with Batch &amp; Streaming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602,250 historical traffic records across 11 UK regions (2000-2025)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Real-time carbon intensity data from 17 UK regions every 30 seconds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Medallion Architecture: Bronze → Silver → Gold with 13 Gold tables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✅  3 ADF Pipelines, 12 Synapse SQL views, 2 Power BI dashboards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114800"/>
            <a:ext cx="64008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Key Achievement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8463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Built a complete data platform handling both historical</a:t>
            </a:r>
            <a:br/>
            <a:r>
              <a:t>batch processing and real-time streaming with professional</a:t>
            </a:r>
            <a:br/>
            <a:r>
              <a:t>Power BI dashboards delivering actionable business insights.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471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B82F6"/>
                </a:solidFill>
              </a:defRPr>
            </a:pPr>
            <a:r>
              <a:t>Questions &amp;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4114800"/>
            <a:ext cx="4572000" cy="457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GitHub: github.com/Subirna/Azure-Data-Engineering-Project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</a:defRPr>
            </a:pPr>
            <a:r>
              <a:t>Subirna Muthurasa  |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