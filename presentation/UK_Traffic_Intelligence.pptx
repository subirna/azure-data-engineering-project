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74320"/>
            <a:ext cx="11247120" cy="731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UK Road Traffic &amp; Carbon Intensity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3B82F6"/>
                </a:solidFill>
              </a:defRPr>
            </a:pPr>
            <a:r>
              <a:t>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</a:defRPr>
            </a:pPr>
            <a:r>
              <a:t>End-to-End Azure Data Engineering with Batch &amp; Streaming Pipelines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5029200"/>
            <a:ext cx="4572000" cy="457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</a:defRPr>
            </a:pPr>
            <a:r>
              <a:t>Presented by: Subirna Muthurasa  |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74320"/>
            <a:ext cx="11247120" cy="731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1.  Project Overview &amp; Business Problem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2.  Architecture — Batch Pipeline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3.  Architecture — Streaming Pipeline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4.  Data Sources &amp; Infrastructure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5.  Medallion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02920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66560" y="16459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6.   Gold Tables &amp; Data Model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7.   ADF Pipelines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8.   Batch Demo &amp; Dashboard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9.   Streaming Live Demo &amp; Dashboard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10.  Challenges, Insights &amp; Q&amp;A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Total Time: ~20 minutes  |  Includes 2 live demos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74320"/>
            <a:ext cx="11247120" cy="731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BUSINESS PROBLEM &amp;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F4444"/>
                </a:solidFill>
              </a:defRPr>
            </a:pPr>
            <a:r>
              <a:t>The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•  UK has 46,000+ traffic count points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•  600,000+ records spanning 25 years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•  No unified platform for traffic &amp;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    environmental analysis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•  COVID-19 impact on UK roads unknown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•  Need real-time carbon intensity data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•  Decision-makers lack actionable insights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02920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6656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</a:defRPr>
            </a:pPr>
            <a:r>
              <a:t>Our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1031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•  Batch: 602,250 historical traffic records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    across all 11 UK regions (2000-2025)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•  Streaming: Real-time carbon intensity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    data every 30 seconds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•  Medallion Architecture (Bronze→Silver→Gold)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•  Azure Synapse SQL serving layer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•  2 Interactive Power BI dashboards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•  3 ADF pipelines for orchestration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74320"/>
            <a:ext cx="11247120" cy="731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BATCH PIPELINE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645920"/>
            <a:ext cx="1554480" cy="10058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UK DfT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Traffic API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920240" y="2011680"/>
            <a:ext cx="457200" cy="27432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468880" y="1645920"/>
            <a:ext cx="1554480" cy="10058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ADF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Copy Data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114800" y="2011680"/>
            <a:ext cx="457200" cy="27432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663440" y="1645920"/>
            <a:ext cx="1554480" cy="100584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ADLS Gen2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Raw Data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309360" y="2011680"/>
            <a:ext cx="457200" cy="27432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0" y="1280160"/>
            <a:ext cx="2926080" cy="4389120"/>
          </a:xfrm>
          <a:prstGeom prst="roundRect">
            <a:avLst/>
          </a:prstGeom>
          <a:solidFill>
            <a:srgbClr val="15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0" y="1371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4A3B8"/>
                </a:solidFill>
              </a:defRPr>
            </a:pPr>
            <a:r>
              <a:t>Azure Databricks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0" y="1828800"/>
            <a:ext cx="2103120" cy="822960"/>
          </a:xfrm>
          <a:prstGeom prst="roundRect">
            <a:avLst/>
          </a:prstGeom>
          <a:solidFill>
            <a:srgbClr val="7C3A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Bronze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602,250 raw rows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7955280" y="2743200"/>
            <a:ext cx="274320" cy="365760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223760" y="3200400"/>
            <a:ext cx="2103120" cy="822960"/>
          </a:xfrm>
          <a:prstGeom prst="round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Silver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Cleansed &amp; typed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7955280" y="4114800"/>
            <a:ext cx="274320" cy="365760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223760" y="4572000"/>
            <a:ext cx="2103120" cy="822960"/>
          </a:xfrm>
          <a:prstGeom prst="roundRect">
            <a:avLst/>
          </a:prstGeom>
          <a:solidFill>
            <a:srgbClr val="713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Gold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8 business tables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875520" y="3200400"/>
            <a:ext cx="457200" cy="27432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424160" y="2743200"/>
            <a:ext cx="1554480" cy="100584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Azure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Synapse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8 Views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10972800" y="3840480"/>
            <a:ext cx="274320" cy="365760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424160" y="4389120"/>
            <a:ext cx="1554480" cy="10058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Power BI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1264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602,250 records  •  11 UK Regions  •  25 Years (2000-2025)  •  8 Gold Tables  •  13 Vehicle Types  •  3K Count Points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74320"/>
            <a:ext cx="11247120" cy="73152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STREAMING PIPELINE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645920"/>
            <a:ext cx="1554480" cy="1005840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UK Carbon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Intensity API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920240" y="2011680"/>
            <a:ext cx="457200" cy="27432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468880" y="1645920"/>
            <a:ext cx="1554480" cy="10058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Python</a:t>
            </a:r>
          </a:p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Producer</a:t>
            </a:r>
          </a:p>
          <a:p>
            <a:pPr algn="ctr">
              <a:defRPr sz="1000" b="1">
                <a:solidFill>
                  <a:srgbClr val="FFFFFF"/>
                </a:solidFill>
              </a:defRPr>
            </a:pPr>
            <a:r>
              <a:t>(every 30s)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114800" y="2011680"/>
            <a:ext cx="457200" cy="27432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663440" y="1645920"/>
            <a:ext cx="1554480" cy="10058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Azure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Event Hub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309360" y="2011680"/>
            <a:ext cx="457200" cy="27432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0" y="1280160"/>
            <a:ext cx="2926080" cy="4389120"/>
          </a:xfrm>
          <a:prstGeom prst="roundRect">
            <a:avLst/>
          </a:prstGeom>
          <a:solidFill>
            <a:srgbClr val="15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0" y="1371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4A3B8"/>
                </a:solidFill>
              </a:defRPr>
            </a:pPr>
            <a:r>
              <a:t>Azure Databricks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0" y="1828800"/>
            <a:ext cx="2103120" cy="822960"/>
          </a:xfrm>
          <a:prstGeom prst="roundRect">
            <a:avLst/>
          </a:prstGeom>
          <a:solidFill>
            <a:srgbClr val="7C3A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Bronze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Raw events (append)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7955280" y="2743200"/>
            <a:ext cx="274320" cy="365760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223760" y="3200400"/>
            <a:ext cx="2103120" cy="822960"/>
          </a:xfrm>
          <a:prstGeom prst="round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Silver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Parsed JSON (10 min)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7955280" y="4114800"/>
            <a:ext cx="274320" cy="365760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223760" y="4572000"/>
            <a:ext cx="2103120" cy="822960"/>
          </a:xfrm>
          <a:prstGeom prst="roundRect">
            <a:avLst/>
          </a:prstGeom>
          <a:solidFill>
            <a:srgbClr val="713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Gold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 aggregated tables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875520" y="3200400"/>
            <a:ext cx="457200" cy="27432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424160" y="2743200"/>
            <a:ext cx="1554480" cy="100584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Azure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Synapse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 Views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10972800" y="3840480"/>
            <a:ext cx="274320" cy="365760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424160" y="4389120"/>
            <a:ext cx="1554480" cy="10058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Power BI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1264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Real-time every 30 seconds  •  17 UK Regions  •  9 Fuel Types  •  5 Gold Tables  •  ~190 events/cycle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74320"/>
            <a:ext cx="11247120" cy="731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DATA SOURCES &amp; INFRASTRUCTURE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</a:defRPr>
            </a:pPr>
            <a:r>
              <a:t>Batch — UK DfT Traffic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 602,250 traffic count records (2000-2025)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 11 UK regions, 214 local authorities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 13 vehicle types (cars, HGVs, cycles...)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 API: roadtraffic.dft.gov.uk/api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0292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6656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</a:defRPr>
            </a:pPr>
            <a:r>
              <a:t>Streaming — Carbon Intensity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0116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 National &amp; regional intensity (gCO2/kWh)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 9 fuel types (wind, solar, gas, nuclear...)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 17 UK energy regions, every 30 seconds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 API: api.carbonintensity.org.uk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164592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4297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B82F6"/>
                </a:solidFill>
              </a:defRPr>
            </a:pPr>
            <a:r>
              <a:t>ADLS Gen2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8463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subiradls2026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51760" y="4114800"/>
            <a:ext cx="164592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88920" y="4297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8B5CF6"/>
                </a:solidFill>
              </a:defRPr>
            </a:pPr>
            <a:r>
              <a:t>Data Factory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48463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SubiADF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4114800"/>
            <a:ext cx="164592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09160" y="4297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F4444"/>
                </a:solidFill>
              </a:defRPr>
            </a:pPr>
            <a:r>
              <a:t>Databricks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48463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adb-training-bd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4114800"/>
            <a:ext cx="164592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29400" y="4297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Synapse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8463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syn-bd-training-uk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0" y="4114800"/>
            <a:ext cx="164592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49640" y="4297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Event Hub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48463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eh-uk-traffic-subirna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332720" y="4114800"/>
            <a:ext cx="164592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469880" y="4297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Power BI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69880" y="48463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Desktop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74320"/>
            <a:ext cx="11247120" cy="731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MEDALLION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00400" cy="4572000"/>
          </a:xfrm>
          <a:prstGeom prst="roundRect">
            <a:avLst/>
          </a:prstGeom>
          <a:solidFill>
            <a:srgbClr val="7C3A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9E0B"/>
                </a:solidFill>
              </a:defRPr>
            </a:pPr>
            <a:r>
              <a:t>BRONZE (Raw)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 Raw data from API as-is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 All columns as strings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 602,250 traffic records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 Stored as Parquet in ADLS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 Fetched all 11 regions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 using filter[region_id]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 Append mode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023360" y="3474720"/>
            <a:ext cx="457200" cy="32004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480560" y="1371600"/>
            <a:ext cx="3200400" cy="4572000"/>
          </a:xfrm>
          <a:prstGeom prst="round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4632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94A3B8"/>
                </a:solidFill>
              </a:defRPr>
            </a:pPr>
            <a:r>
              <a:t>SILVER (Cleansed)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10312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 Type-cast: String → Int/Double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 UK coordinates validated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 (lat 49-61, lon -8 to 2)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 Road names: UPPER CASE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 Derived: total_vehicles,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 hgv_percentage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 Overwrite mode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72400" y="3474720"/>
            <a:ext cx="457200" cy="32004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229600" y="1371600"/>
            <a:ext cx="3200400" cy="4572000"/>
          </a:xfrm>
          <a:prstGeom prst="roundRect">
            <a:avLst/>
          </a:prstGeom>
          <a:solidFill>
            <a:srgbClr val="713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9536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9E0B"/>
                </a:solidFill>
              </a:defRPr>
            </a:pPr>
            <a:r>
              <a:t>GOLD (Business)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210312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 8 aggregated tables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 Star schema design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 CO2 emission estimates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 COVID recovery analysis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 Vehicle mix &amp; green index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 NO partitionBy (keeps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 year column intact)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74320"/>
            <a:ext cx="11247120" cy="731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GOLD TABLES &amp; DATA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47548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</a:defRPr>
            </a:pPr>
            <a:r>
              <a:t>Batch Gold (8 Tables)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fact_traffic_summary      286 rows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fact_co2_emissions         286 rows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fact_vehicle_mix           286 rows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fact_road_analysis       1,704 rows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fact_covid_impact           77 rows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fact_busiest_roads          95 rows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dim_date                 9,497 rows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dim_location               123 rows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0292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Star Schema: dim_date (year) → all fact tables</a:t>
            </a:r>
            <a:br/>
            <a:r>
              <a:t>Relationships: One-to-Many (1:M)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371600"/>
            <a:ext cx="5029200" cy="47548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6656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</a:defRPr>
            </a:pPr>
            <a:r>
              <a:t>Streaming Gold (5 Tables)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1031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gold_national_intensity    CO2 timeline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gold_generation_mix        9 fuel types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gold_regional_intensity    17 regions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gold_regional_generation   Regional mix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gold_renewable_summary     Renewable vs Fossil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Standalone tables (no relationships)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Synapse: 8 batch + 4 streaming = 12 views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74320"/>
            <a:ext cx="11247120" cy="731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ADF PIPELINE ORCHESTRATION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0040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</a:defRPr>
            </a:pPr>
            <a:r>
              <a:t>Pipeline 1 — Batch Ingest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pl_ingest_traffic_data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✅ Fetch Count Points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✅ Fetch Traffic Counts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✅ Fetch Regions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✅ Fetch Local Authorities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4 ADF Copy Activities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UK Gov API → ADLS Raw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371600"/>
            <a:ext cx="320040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4632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</a:defRPr>
            </a:pPr>
            <a:r>
              <a:t>Pipeline 2 — Batch Transform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920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pl_batch_orchestration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46888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📓 Bronze_Ingestion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    ↓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📓 Silver_Transform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    ↓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📓 Gold_Transform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3 Databricks Notebooks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371600"/>
            <a:ext cx="320040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9536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</a:defRPr>
            </a:pPr>
            <a:r>
              <a:t>Pipeline 3 — Streaming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1920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pl_streaming_carbon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246888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📓 Produce_Events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    ↓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📓 Stream_Bronze_Silver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    ↓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📓 Stream_Gold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API → Event Hub → ADLS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74320"/>
            <a:ext cx="11247120" cy="731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DEMO — BATCH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1645920"/>
            <a:ext cx="548640" cy="5486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74519" y="17373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691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</a:defRPr>
            </a:pPr>
            <a:r>
              <a:t>Azure Portal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691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Resource Group with all Azure services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423160"/>
            <a:ext cx="548640" cy="5486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74519" y="2514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468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</a:defRPr>
            </a:pPr>
            <a:r>
              <a:t>ADF Pipelines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2468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Copy pipeline + Databricks orchestration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3200400"/>
            <a:ext cx="548640" cy="54864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874519" y="3291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3246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97316"/>
                </a:solidFill>
              </a:defRPr>
            </a:pPr>
            <a:r>
              <a:t>ADLS Gen2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32461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Bronze, Silver, Gold containers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3977639"/>
            <a:ext cx="548640" cy="54864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874519" y="406907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402335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</a:defRPr>
            </a:pPr>
            <a:r>
              <a:t>Databricks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4023359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Notebooks — Bronze, Silver, Gold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0" y="4754880"/>
            <a:ext cx="548640" cy="54864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874519" y="4846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4800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</a:defRPr>
            </a:pPr>
            <a:r>
              <a:t>Synapse Studio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4800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SQL Views on Gold layer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28800" y="5532120"/>
            <a:ext cx="548640" cy="5486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874519" y="56235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5577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</a:defRPr>
            </a:pPr>
            <a:r>
              <a:t>Power BI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5577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Dashboard — filter by Year &amp; Region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74320"/>
            <a:ext cx="11247120" cy="73152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DEMO — STREAMING PIPELINE (LIVE)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1645920"/>
            <a:ext cx="548640" cy="548640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74519" y="17373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691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</a:defRPr>
            </a:pPr>
            <a:r>
              <a:t>ADF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691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Debug — triggers all 3 notebooks automatically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514600"/>
            <a:ext cx="548640" cy="5486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74519" y="2606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560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</a:defRPr>
            </a:pPr>
            <a:r>
              <a:t>Producer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2560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Fetches Carbon Intensity → sends to Event Hub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3383280"/>
            <a:ext cx="548640" cy="5486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874519" y="3474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3429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</a:defRPr>
            </a:pPr>
            <a:r>
              <a:t>Event Hub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3429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Message broker — ~190 events per cycle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4251959"/>
            <a:ext cx="548640" cy="54864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874519" y="434339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429767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</a:defRPr>
            </a:pPr>
            <a:r>
              <a:t>Databricks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4297679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Bronze → Silver → Gold (5 tables)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0" y="5120640"/>
            <a:ext cx="548640" cy="5486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874519" y="5212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5166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</a:defRPr>
            </a:pPr>
            <a:r>
              <a:t>Power BI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51663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Refresh — live data updates!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74320"/>
            <a:ext cx="11247120" cy="73152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CHALLENGES &amp;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F4444"/>
                </a:solidFill>
              </a:defRPr>
            </a:pPr>
            <a:r>
              <a:t>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Solution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029200" cy="548640"/>
          </a:xfrm>
          <a:prstGeom prst="round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❌  API returned only 4 of 11 regions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63040"/>
            <a:ext cx="5029200" cy="548640"/>
          </a:xfrm>
          <a:prstGeom prst="round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1554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✅  Fetched region-by-region using filter[region_id]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48840"/>
            <a:ext cx="5029200" cy="548640"/>
          </a:xfrm>
          <a:prstGeom prst="round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2402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❌  ADF Copy saved wrapper, not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148840"/>
            <a:ext cx="5029200" cy="548640"/>
          </a:xfrm>
          <a:prstGeom prst="round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22402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✅  Moved ingestion to Databricks for control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34640"/>
            <a:ext cx="5029200" cy="548640"/>
          </a:xfrm>
          <a:prstGeom prst="round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2926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❌  partitionBy removed year column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834640"/>
            <a:ext cx="5029200" cy="548640"/>
          </a:xfrm>
          <a:prstGeom prst="round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0" y="2926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✅  Removed partitionBy — year stays as column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520440"/>
            <a:ext cx="5029200" cy="548640"/>
          </a:xfrm>
          <a:prstGeom prst="round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36118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❌  COVID baseline returned nulls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520440"/>
            <a:ext cx="5029200" cy="548640"/>
          </a:xfrm>
          <a:prstGeom prst="round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0" y="36118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✅  Changed window function to JOIN approach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206240"/>
            <a:ext cx="5029200" cy="548640"/>
          </a:xfrm>
          <a:prstGeom prst="round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42976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❌  Unity Catalog blocked mount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4206240"/>
            <a:ext cx="5029200" cy="548640"/>
          </a:xfrm>
          <a:prstGeom prst="round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0" y="42976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✅  Used spark.conf.set with account key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892040"/>
            <a:ext cx="5029200" cy="548640"/>
          </a:xfrm>
          <a:prstGeom prst="round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4983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❌  Synapse couldn't access ADLS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4892040"/>
            <a:ext cx="5029200" cy="548640"/>
          </a:xfrm>
          <a:prstGeom prst="round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0" y="4983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✅  Used SAS token credential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577840"/>
            <a:ext cx="5029200" cy="548640"/>
          </a:xfrm>
          <a:prstGeom prst="round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56692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❌  Power BI cyclic reference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5577840"/>
            <a:ext cx="5029200" cy="548640"/>
          </a:xfrm>
          <a:prstGeom prst="round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83680" y="56692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✅  Removed auto-detected relationships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74320"/>
            <a:ext cx="11247120" cy="731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FUTURE ENHANCEMENTS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</a:defRPr>
            </a:pPr>
            <a:r>
              <a:t>Add Accident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STATS19 road casualty statistics for safety 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371600"/>
            <a:ext cx="5029200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6656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</a:defRPr>
            </a:pPr>
            <a:r>
              <a:t>Delta Lake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Replace Parquet with Delta for ACID transactions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17520"/>
            <a:ext cx="5029200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3200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</a:defRPr>
            </a:pPr>
            <a:r>
              <a:t>Real-time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57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Power BI streaming dataset for auto-refresh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3017520"/>
            <a:ext cx="5029200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66560" y="3200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</a:defRPr>
            </a:pPr>
            <a:r>
              <a:t>CI/CD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3657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Azure DevOps for automated deployment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663440"/>
            <a:ext cx="5029200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4846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</a:defRPr>
            </a:pPr>
            <a:r>
              <a:t>Machine Learning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303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Predict traffic congestion and accident risk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4663440"/>
            <a:ext cx="5029200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66560" y="4846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</a:defRPr>
            </a:pPr>
            <a:r>
              <a:t>Data Quality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5303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Great Expectations for automated validation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74320"/>
            <a:ext cx="11247120" cy="731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PROJECT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515600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✅  End-to-end Azure Data Engineering platform with Batch &amp; Streaming pipelines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✅  602,250 historical traffic records across 11 UK regions (2000-2025)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✅  Real-time carbon intensity data from 17 UK regions every 30 seconds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✅  Medallion Architecture: Bronze → Silver → Gold with 13 Gold tables total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✅  3 ADF Pipelines, 12 Synapse SQL Views, 2 Professional Power BI Dashboards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4389120"/>
            <a:ext cx="640080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0" y="4572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</a:defRPr>
            </a:pPr>
            <a:r>
              <a:t>Key Achievement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512064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Built a complete data platform handling both historical</a:t>
            </a:r>
            <a:br/>
            <a:r>
              <a:t>batch processing and real-time streaming with professional</a:t>
            </a:r>
            <a:br/>
            <a:r>
              <a:t>Power BI dashboards delivering actionable business insights.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74320"/>
            <a:ext cx="11247120" cy="731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3B82F6"/>
                </a:solidFill>
              </a:defRPr>
            </a:pPr>
            <a:r>
              <a:t>Questions &amp; Answers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3657600"/>
            <a:ext cx="4572000" cy="457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</a:defRPr>
            </a:pPr>
            <a:r>
              <a:t>GitHub: github.com/Subirna/Azure-Data-Engineering-Project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</a:defRPr>
            </a:pPr>
            <a:r>
              <a:t>Subirna Muthurasa  |  June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303520"/>
            <a:ext cx="1005840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0" y="539496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</a:defRPr>
            </a:pPr>
            <a:r>
              <a:t>Common Questions Prepared: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576072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Why Views not External Tables?  •  Why Databricks not ADF for ingestion?  •  How often does streaming run?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What if cluster is down?  •  How do you handle data quality?  •  Why 2 separate dashboards?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1235</Words>
  <Application>Microsoft Office PowerPoint</Application>
  <PresentationFormat>Widescreen</PresentationFormat>
  <Paragraphs>251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anasubi@outlook.com</cp:lastModifiedBy>
  <cp:revision>2</cp:revision>
  <dcterms:created xsi:type="dcterms:W3CDTF">2013-01-27T09:14:16Z</dcterms:created>
  <dcterms:modified xsi:type="dcterms:W3CDTF">2026-06-26T12:54:35Z</dcterms:modified>
  <cp:category/>
</cp:coreProperties>
</file>